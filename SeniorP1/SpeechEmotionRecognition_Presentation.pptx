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10360152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280160"/>
            <a:ext cx="103601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5596128"/>
            <a:ext cx="103601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arabun"/>
              </a:rPr>
              <a:t>ระบบรู้จำอารมณ์จากเสียงพูด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A623"/>
                </a:solidFill>
                <a:latin typeface="Sarabun"/>
              </a:rPr>
              <a:t>แบบรวมหลายภาษา ด้วยเทคนิคการเรียนรู้เชิงลึก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0FE"/>
                </a:solidFill>
                <a:latin typeface="Sarabun"/>
              </a:rPr>
              <a:t>Multilingual Speech Emotion Recognition via Per-Language Deep Learning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840480"/>
            <a:ext cx="5788152" cy="3657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8F0FE"/>
                </a:solidFill>
                <a:latin typeface="Sarabun"/>
              </a:rPr>
              <a:t>รหัสนักศึกษา  66070131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26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5A5A6"/>
                </a:solidFill>
                <a:latin typeface="Sarabun"/>
              </a:rPr>
              <a:t>สาขาวิทยาการคอมพิวเตอร์  |  ภาคการศึกษา 2 / 2567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20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A623"/>
                </a:solidFill>
                <a:latin typeface="Sarabun"/>
              </a:rPr>
              <a:t>🎤  Thai · Chinese · Japanese · Korean ·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สารบัญการนำเสนอ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2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39496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48640" cy="100584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276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ที่มาและปัญหา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8483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Sarabun"/>
              </a:rPr>
              <a:t>Prosody Mismatch ข้ามภาษา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39496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548640" cy="100584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6276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วัตถุประสงค์และขอบเขต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08483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Sarabun"/>
              </a:rPr>
              <a:t>5 ภาษา, Per-Language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61488"/>
            <a:ext cx="539496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61488"/>
            <a:ext cx="548640" cy="100584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900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834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Dataset ที่ใช้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2918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Sarabun"/>
              </a:rPr>
              <a:t>Thai / Chinese / Japanese / Korean / English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761488"/>
            <a:ext cx="539496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761488"/>
            <a:ext cx="548640" cy="100584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29900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834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สถาปัตยกรรมระบบ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2918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Sarabun"/>
              </a:rPr>
              <a:t>Language Detector + EmotionResNet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68496"/>
            <a:ext cx="539496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968496"/>
            <a:ext cx="548640" cy="100584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1970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0416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ผลการทดลอง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4988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Sarabun"/>
              </a:rPr>
              <a:t>Accuracy, F1-score, Baseline Comparison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968496"/>
            <a:ext cx="539496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68496"/>
            <a:ext cx="548640" cy="100584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7" y="41970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0416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Cross-lingual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4988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Sarabun"/>
              </a:rPr>
              <a:t>ความคล้ายคลึงของอารมณ์ข้ามภาษา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175504"/>
            <a:ext cx="539496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175504"/>
            <a:ext cx="548640" cy="100584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540410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24865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arabun"/>
              </a:rPr>
              <a:t>สรุปและอนาคต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70585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Sarabun"/>
              </a:rPr>
              <a:t>ข้อค้นพบ +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ที่มาและปัญหา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3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A623"/>
                </a:solidFill>
                <a:latin typeface="Sarabun"/>
              </a:rPr>
              <a:t>ปัญหาหลัก: Prosody Mismatch ข้ามภาษา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365760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36576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arabun"/>
              </a:rPr>
              <a:t>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  <a:latin typeface="Sarabun"/>
              </a:rPr>
              <a:t>แต่ละภาษามี Prosody ต่างกัน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ภาษาไทยใช้ระดับเสียง (Tone) เพื่อบอกความหมาย
ขณะที่ภาษาอังกฤษใช้ Stress/Intonation เพื่อบอกอารมณ์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03120"/>
            <a:ext cx="365760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103120"/>
            <a:ext cx="36576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arabun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926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  <a:latin typeface="Sarabun"/>
              </a:rPr>
              <a:t>โมเดลเดียว (Unified Model) ไม่ได้ผล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5204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โมเดลเดียวที่ฝึกด้วยหลายภาษาสับสน Feature จาก
ภาษาต่าง ๆ → Accuracy ต่ำ ~68%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03120"/>
            <a:ext cx="365760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103120"/>
            <a:ext cx="36576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2402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Sarabun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926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  <a:latin typeface="Sarabun"/>
              </a:rPr>
              <a:t>ข้อมูลน้อยเกินไปสำหรับบางภาษา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5204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Korean มีเพียง ~420 ตัวอย่าง → Deep Learning
Overfit, Classical ML ให้ผลดีกว่า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86400"/>
            <a:ext cx="11430000" cy="6858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778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arabun"/>
              </a:rPr>
              <a:t>แนวทางแก้: Per-Language Model — ฝึกโมเดลแยกสำหรับแต่ละภาษา + Language Detector ระบุภาษาอัตโนมัติ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วัตถุประสงค์และขอบเขต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Objectives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4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124712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457200" cy="749808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A623"/>
                </a:solidFill>
                <a:latin typeface="Sarabu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64207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arabun"/>
              </a:rPr>
              <a:t>พัฒนาระบบรู้จำอารมณ์สำหรับ 5 ภาษา: ไทย จีน ญี่ปุ่น เกาหลี อังกฤษ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39"/>
            <a:ext cx="1124712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77439"/>
            <a:ext cx="457200" cy="749808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145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A623"/>
                </a:solidFill>
                <a:latin typeface="Sarabu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32887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arabun"/>
              </a:rPr>
              <a:t>ออกแบบ Per-Language ResNet ที่แก้ปัญหา Prosody Mismatch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1124712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457200" cy="749808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83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A623"/>
                </a:solidFill>
                <a:latin typeface="Sarabu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015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arabun"/>
              </a:rPr>
              <a:t>สร้าง Language Detector ระบุภาษาอัตโนมัติ (เป้าหมาย ≥ 95%)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1124712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457200" cy="749808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A623"/>
                </a:solidFill>
                <a:latin typeface="Sarabu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702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arabun"/>
              </a:rPr>
              <a:t>วิเคราะห์ความคล้ายคลึงของอารมณ์ข้ามภาษา (Cross-lingual Analysis)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83479"/>
            <a:ext cx="11247120" cy="7498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83479"/>
            <a:ext cx="457200" cy="749808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A623"/>
                </a:solidFill>
                <a:latin typeface="Sarabu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38927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arabun"/>
              </a:rPr>
              <a:t>พัฒนา Web Demo ทดสอบกับเสียงจริงผ่าน Gradio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9618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5A623"/>
                </a:solidFill>
                <a:latin typeface="Sarabun"/>
              </a:rPr>
              <a:t>Feature: Mel Spectrogram 128×130  |  SR: 16 kHz  |  Framework: PyTorch 2.6  |  GPU: RTX 3060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Dataset ที่ใช้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5 Languages × Emotion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5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11612880" cy="4572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ภาษา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ตัวอย่าง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อารมณ์ที่รู้จำ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20240"/>
            <a:ext cx="1161288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920240"/>
            <a:ext cx="109728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🇹🇭 Thai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E"/>
                </a:solidFill>
                <a:latin typeface="Sarabun"/>
              </a:rPr>
              <a:t>TDED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1031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7AE60"/>
                </a:solidFill>
                <a:latin typeface="Sarabun"/>
              </a:rPr>
              <a:t>~30,210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5A5A6"/>
                </a:solidFill>
                <a:latin typeface="Sarabun"/>
              </a:rPr>
              <a:t>Angry Happy Neutral Sad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61488"/>
            <a:ext cx="11612880" cy="80467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761488"/>
            <a:ext cx="109728" cy="804672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44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🇨🇳 Chinese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944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E"/>
                </a:solidFill>
                <a:latin typeface="Sarabun"/>
              </a:rPr>
              <a:t>Chinese Emotion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94436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3A8F"/>
                </a:solidFill>
                <a:latin typeface="Sarabun"/>
              </a:rPr>
              <a:t>~2,690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9443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9443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5A5A6"/>
                </a:solidFill>
                <a:latin typeface="Sarabun"/>
              </a:rPr>
              <a:t>Angry Fear Happy Neutral Sad Surprise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02736"/>
            <a:ext cx="1161288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602736"/>
            <a:ext cx="109728" cy="804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856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🇯🇵 Japanese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7856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E"/>
                </a:solidFill>
                <a:latin typeface="Sarabun"/>
              </a:rPr>
              <a:t>JANON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78561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7E22"/>
                </a:solidFill>
                <a:latin typeface="Sarabun"/>
              </a:rPr>
              <a:t>~1,215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78561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378561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5A5A6"/>
                </a:solidFill>
                <a:latin typeface="Sarabun"/>
              </a:rPr>
              <a:t>Angry Disgust Fear Happy Sad Surprise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443984"/>
            <a:ext cx="11612880" cy="80467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443984"/>
            <a:ext cx="109728" cy="8046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6268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🇰🇷 Korean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46268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E"/>
                </a:solidFill>
                <a:latin typeface="Sarabun"/>
              </a:rPr>
              <a:t>hi_kia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62686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74C3C"/>
                </a:solidFill>
                <a:latin typeface="Sarabun"/>
              </a:rPr>
              <a:t>~420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62686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62686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5A5A6"/>
                </a:solidFill>
                <a:latin typeface="Sarabun"/>
              </a:rPr>
              <a:t>Angry Happy Neutral Sad Surprise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285232"/>
            <a:ext cx="11612880" cy="8046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5285232"/>
            <a:ext cx="10972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4681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🇺🇸 English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4640" y="54681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E"/>
                </a:solidFill>
                <a:latin typeface="Sarabun"/>
              </a:rPr>
              <a:t>RAVDESS+CREMA-D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546811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~11,425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546811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4681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5A5A6"/>
                </a:solidFill>
                <a:latin typeface="Sarabun"/>
              </a:rPr>
              <a:t>Angry Disgust Fear Happy Neutral Sad Surprise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สถาปัตยกรรมระบบ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System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6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1828800" cy="9144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574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arabun"/>
              </a:rPr>
              <a:t>🎤
Audio Input
(.wav / mic)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011680"/>
            <a:ext cx="2011680" cy="9144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20574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arabun"/>
              </a:rPr>
              <a:t>🔊
Mel Spectrogram
128×130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371600"/>
            <a:ext cx="228600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417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arabun"/>
              </a:rPr>
              <a:t>🌐
Language Detector
SVM (98.54%)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743200"/>
            <a:ext cx="2286000" cy="9144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7889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arabun"/>
              </a:rPr>
              <a:t>📊
Feature
Extraction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914400"/>
            <a:ext cx="201168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9601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arabun"/>
              </a:rPr>
              <a:t>🇹🇭 Thai ResNet
88.40%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1920240"/>
            <a:ext cx="2011680" cy="82296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9659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arabun"/>
              </a:rPr>
              <a:t>🇨🇳 Chinese ResNet
86.62%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926080"/>
            <a:ext cx="201168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971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arabun"/>
              </a:rPr>
              <a:t>🇯🇵 Japan ResNet
84.36%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3931920"/>
            <a:ext cx="201168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39776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arabun"/>
              </a:rPr>
              <a:t>🇰🇷 Korean SVM
72.62%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4937760"/>
            <a:ext cx="2011680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4983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arabun"/>
              </a:rPr>
              <a:t>🇺🇸 English ResNet
82.84%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2560320"/>
            <a:ext cx="182880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606039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arabun"/>
              </a:rPr>
              <a:t>😊
Emotion
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89320"/>
            <a:ext cx="11612880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Language Detector ระบุภาษาก่อน → ส่งไปยัง Per-Language Model ที่เหมาะสม → ทำนายอารมณ์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EmotionResNet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Per-Language Deep Learning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7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1234440" cy="105156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002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01952"/>
            <a:ext cx="11430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  <a:latin typeface="Sarabun"/>
              </a:rPr>
              <a:t>(1, 128, 130)
Mel Spectrogram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554480"/>
            <a:ext cx="1234440" cy="105156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6002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01952"/>
            <a:ext cx="11430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  <a:latin typeface="Sarabun"/>
              </a:rPr>
              <a:t>Conv2d 1→64, k=3
BN + ReLU + MaxPool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554480"/>
            <a:ext cx="12344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79" y="16002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Layer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79" y="1901952"/>
            <a:ext cx="11430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  <a:latin typeface="Sarabun"/>
              </a:rPr>
              <a:t>ResBlock 64→64
(Skip Connection)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1554480"/>
            <a:ext cx="12344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Layer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901952"/>
            <a:ext cx="11430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  <a:latin typeface="Sarabun"/>
              </a:rPr>
              <a:t>ResBlock 64→128
Stride=2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554480"/>
            <a:ext cx="12344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6002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Layer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1901952"/>
            <a:ext cx="11430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  <a:latin typeface="Sarabun"/>
              </a:rPr>
              <a:t>ResBlock 128→256
Stride=2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1554480"/>
            <a:ext cx="1234440" cy="105156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16002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AvgPool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1901952"/>
            <a:ext cx="11430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  <a:latin typeface="Sarabun"/>
              </a:rPr>
              <a:t>AdaptiveAvgPool2d
(4, 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0" y="1554480"/>
            <a:ext cx="1234440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16002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1901952"/>
            <a:ext cx="11430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  <a:latin typeface="Sarabun"/>
              </a:rPr>
              <a:t>Linear 4096→256
ReLU + Dropout(0.4)
Linear 256→N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95560" y="1554480"/>
            <a:ext cx="1234440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160020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1901952"/>
            <a:ext cx="11430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0FE"/>
                </a:solidFill>
                <a:latin typeface="Sarabun"/>
              </a:rPr>
              <a:t>N Classes
Softmax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2880360"/>
            <a:ext cx="548640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0" y="2880360"/>
            <a:ext cx="54864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0" y="2926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5A623"/>
                </a:solidFill>
                <a:latin typeface="Sarabun"/>
              </a:rPr>
              <a:t>Skip Connection: Output = F(x, {Wi}) + x  →  แก้ปัญหา Vanishing Gradient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657600"/>
            <a:ext cx="116128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E"/>
                </a:solidFill>
                <a:latin typeface="Sarabun"/>
              </a:rPr>
              <a:t>~2.35M Parameters  |  Input: (1, 128, 130)  |  Batch Size: 32  |  Optimizer: Adam lr=1e-3  |  Epochs: 50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480560"/>
            <a:ext cx="54864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4480560"/>
            <a:ext cx="54864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526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Sarabun"/>
              </a:rPr>
              <a:t>Data Augmentation: SpecAugment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95604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• Frequency Masking (F=27)
• Time Masking (T=30)
• Pitch Shift ±1/±2 semitones, Time Stretch 0.85/1.15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480560"/>
            <a:ext cx="566928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4480560"/>
            <a:ext cx="56692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5262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Sarabun"/>
              </a:rPr>
              <a:t>Language Detector (SVM)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956048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• Pipeline: StandardScaler → PCA(80) → SVC(RBF, C=10)
• Features: MFCC 40-dim
• Accuracy: 98.54%  (5 classes)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Training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7-Step Development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8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645920"/>
            <a:ext cx="146304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645920"/>
            <a:ext cx="1463040" cy="4572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" y="1691640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  <a:latin typeface="Sarabu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48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ศึกษา
ทฤษฎี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34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Sarabun"/>
              </a:rPr>
              <a:t>ResNet, Mel
Spectrogram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286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38528" y="1645920"/>
            <a:ext cx="146304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8528" y="1645920"/>
            <a:ext cx="1463040" cy="4572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56816" y="1691640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  <a:latin typeface="Sarabu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2148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รวบรวม
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4248" y="2834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Sarabun"/>
              </a:rPr>
              <a:t>5 ภาษา
~45,960 samples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286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48456" y="1645920"/>
            <a:ext cx="146304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48456" y="1645920"/>
            <a:ext cx="1463040" cy="4572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1691640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  <a:latin typeface="Sarabun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2148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Language
Detector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2834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Sarabun"/>
              </a:rPr>
              <a:t>SVM Pipeline
98.54%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2286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58384" y="1645920"/>
            <a:ext cx="146304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58384" y="1645920"/>
            <a:ext cx="1463040" cy="4572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6672" y="1691640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  <a:latin typeface="Sarabun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4104" y="2148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Train
ResNet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4104" y="2834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Sarabun"/>
              </a:rPr>
              <a:t>Per-Language
Model ×5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2286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68312" y="1645920"/>
            <a:ext cx="146304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68312" y="1645920"/>
            <a:ext cx="1463040" cy="4572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1691640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  <a:latin typeface="Sarabun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2148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Wav2Vec2
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2834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Sarabun"/>
              </a:rPr>
              <a:t>XLS-R 53 Lang
Embedding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2" y="2286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1645920"/>
            <a:ext cx="146304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8240" y="1645920"/>
            <a:ext cx="1463040" cy="4572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96528" y="1691640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  <a:latin typeface="Sarabun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2148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Cross-lingual
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2834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Sarabun"/>
              </a:rPr>
              <a:t>Similarity
Matrix + Radar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228600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A623"/>
                </a:solidFill>
                <a:latin typeface="Sarabun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88168" y="1645920"/>
            <a:ext cx="146304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88168" y="1645920"/>
            <a:ext cx="1463040" cy="4572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06456" y="1691640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  <a:latin typeface="Sarabun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33888" y="21488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Web Demo
&amp; 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33888" y="28346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Sarabun"/>
              </a:rPr>
              <a:t>Gradio
Port 7860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931920"/>
            <a:ext cx="117043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8600" y="4114800"/>
            <a:ext cx="557784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4160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Sarabun"/>
              </a:rPr>
              <a:t>Anti Data-Leakage Strategy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459028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Split file paths BEFORE augmentation
→ ป้องกัน Augmented version ของ Train
   ปนเข้าไปใน Test Set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114800"/>
            <a:ext cx="5669280" cy="1554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160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Sarabun"/>
              </a:rPr>
              <a:t>Korean Exception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59028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Korean มี ~420 samples เท่านั้น
→ ResNet Overfit (53.57%)
→ ใช้ SVM แทน → 72.62%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ผลการทดลอง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Evaluation Results — Per-Language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9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11612880" cy="4572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ภาษา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F1-Macro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Test Samples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20240"/>
            <a:ext cx="1161288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920240"/>
            <a:ext cx="109728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0848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Sarabun"/>
              </a:rPr>
              <a:t>🇹🇭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Thai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  <a:latin typeface="Sarabun"/>
              </a:rPr>
              <a:t>88.40%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8F0FE"/>
                </a:solidFill>
                <a:latin typeface="Sarabun"/>
              </a:rPr>
              <a:t>88.49%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5A5A6"/>
                </a:solidFill>
                <a:latin typeface="Sarabun"/>
              </a:rPr>
              <a:t>6,042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E"/>
                </a:solidFill>
                <a:latin typeface="Sarabun"/>
              </a:rPr>
              <a:t>ResNet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70048"/>
            <a:ext cx="11612880" cy="71323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670048"/>
            <a:ext cx="109728" cy="713232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8346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Sarabun"/>
              </a:rPr>
              <a:t>🇨🇳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28529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Chinese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8529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3A8F"/>
                </a:solidFill>
                <a:latin typeface="Sarabun"/>
              </a:rPr>
              <a:t>86.62%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28529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8F0FE"/>
                </a:solidFill>
                <a:latin typeface="Sarabun"/>
              </a:rPr>
              <a:t>86.29%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852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5A5A6"/>
                </a:solidFill>
                <a:latin typeface="Sarabun"/>
              </a:rPr>
              <a:t>538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8529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E"/>
                </a:solidFill>
                <a:latin typeface="Sarabun"/>
              </a:rPr>
              <a:t>ResNet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419856"/>
            <a:ext cx="1161288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419856"/>
            <a:ext cx="109728" cy="7132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5844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Sarabun"/>
              </a:rPr>
              <a:t>🇯🇵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36027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Japanese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36027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7E22"/>
                </a:solidFill>
                <a:latin typeface="Sarabun"/>
              </a:rPr>
              <a:t>84.36%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6027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8F0FE"/>
                </a:solidFill>
                <a:latin typeface="Sarabun"/>
              </a:rPr>
              <a:t>84.34%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60273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5A5A6"/>
                </a:solidFill>
                <a:latin typeface="Sarabun"/>
              </a:rPr>
              <a:t>243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36027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E"/>
                </a:solidFill>
                <a:latin typeface="Sarabun"/>
              </a:rPr>
              <a:t>ResNet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169664"/>
            <a:ext cx="11612880" cy="71323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4169664"/>
            <a:ext cx="109728" cy="7132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33425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Sarabun"/>
              </a:rPr>
              <a:t>🇺🇸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352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English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4352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A623"/>
                </a:solidFill>
                <a:latin typeface="Sarabun"/>
              </a:rPr>
              <a:t>82.84%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352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8F0FE"/>
                </a:solidFill>
                <a:latin typeface="Sarabun"/>
              </a:rPr>
              <a:t>81.53%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35254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5A5A6"/>
                </a:solidFill>
                <a:latin typeface="Sarabun"/>
              </a:rPr>
              <a:t>2,285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43525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E"/>
                </a:solidFill>
                <a:latin typeface="Sarabun"/>
              </a:rPr>
              <a:t>ResNet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19472"/>
            <a:ext cx="11612880" cy="7132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4919472"/>
            <a:ext cx="109728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08406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Sarabun"/>
              </a:rPr>
              <a:t>🇰🇷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5102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Korean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5102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74C3C"/>
                </a:solidFill>
                <a:latin typeface="Sarabun"/>
              </a:rPr>
              <a:t>72.62%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5102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8F0FE"/>
                </a:solidFill>
                <a:latin typeface="Sarabun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51023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5A5A6"/>
                </a:solidFill>
                <a:latin typeface="Sarabun"/>
              </a:rPr>
              <a:t>84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51023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8F0FE"/>
                </a:solidFill>
                <a:latin typeface="Sarabun"/>
              </a:rPr>
              <a:t>SVM 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760720"/>
            <a:ext cx="11612880" cy="77724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8704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arabun"/>
              </a:rPr>
              <a:t>เฉลี่ย (ResNet 4 ภาษา): 79.16%  |  Language Detector: 98.54%  |  เป้าหมาย ≥ 75%  ✅ บรรลุ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Baseline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ResNet vs Classical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10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Sarabun"/>
              </a:rPr>
              <a:t>เปรียบเทียบ ResNet กับ Classical ML (SVM / Random Forest / Gradient Boost)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11612880" cy="4572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ภาษา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Gradient 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ResNet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arabun"/>
              </a:rPr>
              <a:t>ผลสรุป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23160"/>
            <a:ext cx="11612880" cy="6675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877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Thai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587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63.9%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587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58.0%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87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58.6%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587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Sarabun"/>
              </a:rPr>
              <a:t>88.5%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587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7AE60"/>
                </a:solidFill>
                <a:latin typeface="Sarabun"/>
              </a:rPr>
              <a:t>ResNet ← best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127248"/>
            <a:ext cx="11612880" cy="66751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Chinese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81.8%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66.7%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68.6%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Sarabun"/>
              </a:rPr>
              <a:t>83.8%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7AE60"/>
                </a:solidFill>
                <a:latin typeface="Sarabun"/>
              </a:rPr>
              <a:t>ResNet ← best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31335"/>
            <a:ext cx="11612880" cy="6675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95927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Japanese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99592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75.3%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399592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66.7%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99592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65.0%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99592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Sarabun"/>
              </a:rPr>
              <a:t>88.5%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99592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7AE60"/>
                </a:solidFill>
                <a:latin typeface="Sarabun"/>
              </a:rPr>
              <a:t>ResNet ← best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535424"/>
            <a:ext cx="11612880" cy="66751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70001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Korean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700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72.6%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4700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61.9%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700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54.8%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700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74C3C"/>
                </a:solidFill>
                <a:latin typeface="Sarabun"/>
              </a:rPr>
              <a:t>66.2%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4700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74C3C"/>
                </a:solidFill>
                <a:latin typeface="Sarabun"/>
              </a:rPr>
              <a:t>SVM ← best (ข้อมูลน้อย)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239512"/>
            <a:ext cx="11612880" cy="6675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4041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English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54041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50.8%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54041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56.8%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4041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F0FE"/>
                </a:solidFill>
                <a:latin typeface="Sarabun"/>
              </a:rPr>
              <a:t>55.8%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54041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Sarabun"/>
              </a:rPr>
              <a:t>73.6%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54041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7AE60"/>
                </a:solidFill>
                <a:latin typeface="Sarabun"/>
              </a:rPr>
              <a:t>ResNet ← best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989320"/>
            <a:ext cx="1161288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053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  <a:latin typeface="Sarabun"/>
              </a:rPr>
              <a:t>No Free Lunch: เมื่อ Samples &lt; 1,000 → SVM ชนะ ResNet  |  เมื่อ Samples ≥ 1,000 → ResNet ชนะ SVM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ผลรายอารมณ์ (ตัวอย่าง: Thai &amp; English)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Per-Class Classification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11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Sarabun"/>
              </a:rPr>
              <a:t>Thai (ResNet) — Accuracy 88.40%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5486400" cy="384048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47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Emotion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47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Prec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47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947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47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50008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68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Angry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468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68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468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468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1,661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16936"/>
            <a:ext cx="5486400" cy="53035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Happy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1,677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83863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60273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Neutral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60273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60273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60273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60273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1,364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050791"/>
            <a:ext cx="5486400" cy="53035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16966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Sad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16966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16966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416966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16966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1,340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  <a:latin typeface="Sarabun"/>
              </a:rPr>
              <a:t>English (ResNet) — Accuracy 82.84%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1920240"/>
            <a:ext cx="5486400" cy="384048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1947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Emotion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1947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Prec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1947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Recall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1947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F1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19476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arabun"/>
              </a:rPr>
              <a:t>Support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2350008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2468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Angry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2468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2468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0.74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2468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0.77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2468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259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2916936"/>
            <a:ext cx="5486400" cy="53035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Disgust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0.78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30358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376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3483863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0" y="360273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Fear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360273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0.66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360273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0.65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81160" y="360273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0.65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360273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257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4050791"/>
            <a:ext cx="5486400" cy="53035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6480" y="416966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Happy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0" y="416966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416966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81160" y="416966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1280" y="416966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448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4617720"/>
            <a:ext cx="548640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26480" y="47365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Neutral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0" y="47365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0.90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75320" y="47365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81160" y="47365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0.90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41280" y="47365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430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5184648"/>
            <a:ext cx="5486400" cy="53035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26480" y="53035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Sad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53035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75320" y="53035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0.90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81160" y="53035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0.85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41280" y="53035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arabun"/>
              </a:rPr>
              <a:t>448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กรณีศึกษา: Korean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Low-Resource Language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12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30352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3035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74C3C"/>
                </a:solidFill>
                <a:latin typeface="Sarabun"/>
              </a:rPr>
              <a:t>ปัญหา: ข้อมูลน้อยเกินไป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Sarabun"/>
              </a:rPr>
              <a:t>• Dataset: hi_kia  ~420 samples เท่านั้น
• ~84 samples / class (5 classes)
• ไฟล์เสียงสั้น 0.4-1.0 วินาที
• Augmentation ไม่ช่วย: Augmented ≈ Original
ผลลัพธ์:
• ResNet: 53.57%  (Overfit รุนแรง)
• SVM:    72.62%  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63040"/>
            <a:ext cx="548640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463040"/>
            <a:ext cx="54864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Sarabun"/>
              </a:rPr>
              <a:t>แนวทางแก้และข้อค้นพบ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Sarabun"/>
              </a:rPr>
              <a:t>✅ ใช้ SVM (RBF Kernel) แทน ResNet
    → 72.62% vs 53.57%
📌 หลักการ No Free Lunch Theorem:
    เมื่อ Samples &lt; 1,000/class
    Classical ML ให้ผลดีกว่า Deep Learning
    เพราะ Bias-Variance Tradeoff ที่ดีกว่า
🔮 แนวทางอนาคต:
    • รวบรวมข้อมูล ≥ 1,000 samples/class
    • Fine-tune Wav2Vec2 XLS-R
    • Ensemble ResNet + SVM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Cross-lingual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ความคล้ายคลึงของอารมณ์ข้ามภาษา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13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74320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274320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arabun"/>
              </a:rPr>
              <a:t>😠 Angry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4884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F0FE"/>
                </a:solidFill>
                <a:latin typeface="Sarabun"/>
              </a:rPr>
              <a:t>คล้ายสูงสุดข้ามภาษา
(Within ≈ Between Distance)
เสียง Angry มี Acoustic Pattern
ที่เป็น Universal มากที่สุด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554480"/>
            <a:ext cx="274320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554480"/>
            <a:ext cx="27432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arabun"/>
              </a:rPr>
              <a:t>😊 Happy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14884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F0FE"/>
                </a:solidFill>
                <a:latin typeface="Sarabun"/>
              </a:rPr>
              <a:t>คล้ายปานกลาง
ภาษาที่ใช้ Tone (Thai/Chinese)
มี Happy Pattern คล้ายกันมาก
European langs ต่างออกไป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274320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2743200" cy="50292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arabun"/>
              </a:rPr>
              <a:t>😢 Sad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14884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F0FE"/>
                </a:solidFill>
                <a:latin typeface="Sarabun"/>
              </a:rPr>
              <a:t>แตกต่างข้ามภาษา
ภาษา Tonal แสดง Sad
ด้วย Low Pitch ต่างจาก
Non-tonal languages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554480"/>
            <a:ext cx="274320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554480"/>
            <a:ext cx="2743200" cy="5029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600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arabun"/>
              </a:rPr>
              <a:t>😐 Neutral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48840"/>
            <a:ext cx="2560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8F0FE"/>
                </a:solidFill>
                <a:latin typeface="Sarabun"/>
              </a:rPr>
              <a:t>แตกต่างมากที่สุด
แต่ละภาษามีระดับ 'เสียงปกติ'
ที่แตกต่างกันมาก
ยากที่สุดในการ Transfer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06440"/>
            <a:ext cx="11612880" cy="77724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arabun"/>
              </a:rPr>
              <a:t>ข้อสรุป: Angry เป็น Universal Emotion ที่สุด  |  Neutral ยากที่สุด  |  Thai-Chinese มีความคล้ายสูงสุด (ภาษา Tonal)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ปัญหาและวิธีแก้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Challenges &amp;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14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1612880" cy="69494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91440" cy="6949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73351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Sarabun"/>
              </a:rPr>
              <a:t>Korean Data Scarcity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73351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ResNet 53% &lt; SVM 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73351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Sarabun"/>
              </a:rPr>
              <a:t>→ ใช้ SVM แทน + ทำ Model Selection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40280"/>
            <a:ext cx="11612880" cy="694944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240280"/>
            <a:ext cx="91440" cy="6949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048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Sarabun"/>
              </a:rPr>
              <a:t>HuggingFace 404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4048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Download Script ล้มเหลว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04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Sarabun"/>
              </a:rPr>
              <a:t>→ Hugging Face API Search + Augmentation Fallback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71800"/>
            <a:ext cx="11612880" cy="69494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971800"/>
            <a:ext cx="91440" cy="6949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363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Sarabun"/>
              </a:rPr>
              <a:t>Wav2Vec2 TypeError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136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vocab.json ไม่มี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363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Sarabun"/>
              </a:rPr>
              <a:t>→ ใช้ Wav2Vec2FeatureExtractor แทน Processor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03320"/>
            <a:ext cx="11612880" cy="694944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703320"/>
            <a:ext cx="91440" cy="6949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679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Sarabun"/>
              </a:rPr>
              <a:t>torchaudio Mismatch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8679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torchaudio 2.11 ≠ PyTorch 2.6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8679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Sarabun"/>
              </a:rPr>
              <a:t>→ pip install torchaudio==2.6.0 --index-url cu124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434840"/>
            <a:ext cx="11612880" cy="69494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434840"/>
            <a:ext cx="91440" cy="6949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99431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Sarabun"/>
              </a:rPr>
              <a:t>Web Demo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599431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Architecture/API mismatch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599431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Sarabun"/>
              </a:rPr>
              <a:t>→ Align self.classifier + ลบ show_download_button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166360"/>
            <a:ext cx="11612880" cy="694944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166360"/>
            <a:ext cx="91440" cy="6949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3309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  <a:latin typeface="Sarabun"/>
              </a:rPr>
              <a:t>Japan No Raw Audio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533095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0FE"/>
                </a:solidFill>
                <a:latin typeface="Sarabun"/>
              </a:rPr>
              <a:t>ไม่มีไฟล์ .wav ต้นฉบับ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3309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623"/>
                </a:solidFill>
                <a:latin typeface="Sarabun"/>
              </a:rPr>
              <a:t>→ ข้าม Wav2Vec2 สำหรับ Japanese → ไม่กระทบหลัก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สรุปผลการดำเนินงาน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Summary &amp; 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15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39496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3949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Sarabun"/>
              </a:rPr>
              <a:t>ผลลัพธ์ที่ได้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5212080" cy="57607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4027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Sarabun"/>
              </a:rPr>
              <a:t>Thai ResNet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2199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7AE60"/>
                </a:solidFill>
                <a:latin typeface="Sarabun"/>
              </a:rPr>
              <a:t>88.40%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15768"/>
            <a:ext cx="5212080" cy="57607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5292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Sarabun"/>
              </a:rPr>
              <a:t>Chinese ResNet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8346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0F3A8F"/>
                </a:solidFill>
                <a:latin typeface="Sarabun"/>
              </a:rPr>
              <a:t>86.62%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28415"/>
            <a:ext cx="5212080" cy="57607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6557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Sarabun"/>
              </a:rPr>
              <a:t>Japanese ResNet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44728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E67E22"/>
                </a:solidFill>
                <a:latin typeface="Sarabun"/>
              </a:rPr>
              <a:t>84.36%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41064"/>
            <a:ext cx="5212080" cy="57607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782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Sarabun"/>
              </a:rPr>
              <a:t>English ResNet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0599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5A623"/>
                </a:solidFill>
                <a:latin typeface="Sarabun"/>
              </a:rPr>
              <a:t>82.84%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53712"/>
            <a:ext cx="5212080" cy="57607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90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Sarabun"/>
              </a:rPr>
              <a:t>Korean SVM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67258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E74C3C"/>
                </a:solidFill>
                <a:latin typeface="Sarabun"/>
              </a:rPr>
              <a:t>72.62%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66360"/>
            <a:ext cx="5212080" cy="57607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Sarabun"/>
              </a:rPr>
              <a:t>Lang 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2852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7AE60"/>
                </a:solidFill>
                <a:latin typeface="Sarabun"/>
              </a:rPr>
              <a:t>98.54%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779008"/>
            <a:ext cx="5212080" cy="576072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916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Sarabun"/>
              </a:rPr>
              <a:t>Average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897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7AE60"/>
                </a:solidFill>
                <a:latin typeface="Sarabun"/>
              </a:rPr>
              <a:t>79.16%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463040"/>
            <a:ext cx="5486400" cy="5120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1463040"/>
            <a:ext cx="54864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Sarabun"/>
              </a:rPr>
              <a:t>ข้อค้นพบสำคัญ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0574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F0FE"/>
                </a:solidFill>
                <a:latin typeface="Sarabun"/>
              </a:rPr>
              <a:t>1. Per-Language Model ดีกว่า Unified Model
   อย่างมีนัยสำคัญ (เฉลี่ย +11% Accuracy)
2. No Free Lunch: SVM ชนะ ResNet
   เมื่อ Samples &lt; 1,000 / class
3. Angry เป็น Universal Emotion ที่สุด
   ข้ามทุกภาษา
4. Thai-Chinese มีความคล้ายสูงสุด
   (ภาษา Tonal ทั้งคู่)
5. Language Detector 98.54%
   เพียงพอสำหรับ 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แนวทางการพัฒนาในอนาคต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Sarabun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5A5A6"/>
                </a:solidFill>
                <a:latin typeface="Sarabun"/>
              </a:rPr>
              <a:t>16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65760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17904"/>
            <a:ext cx="640080" cy="2048256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011680"/>
            <a:ext cx="566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arabun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55448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  <a:latin typeface="Sarabun"/>
              </a:rPr>
              <a:t>เพิ่มข้อมูล
Korean / Japanese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12848"/>
            <a:ext cx="28803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  <a:latin typeface="Sarabun"/>
              </a:rPr>
              <a:t>รวบรวม KEMDy / JNV ให้ได้
≥ 1,000 samples/class
เพื่อให้ ResNet ทำงานได้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463040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463040"/>
            <a:ext cx="36576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517904"/>
            <a:ext cx="640080" cy="2048256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2011680"/>
            <a:ext cx="566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arabun"/>
              </a:rPr>
              <a:t>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155448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Sarabun"/>
              </a:rPr>
              <a:t>Ensemble Method
สำหรับ Low-Resource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2212848"/>
            <a:ext cx="28803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  <a:latin typeface="Sarabun"/>
              </a:rPr>
              <a:t>รวม ResNet + SVM
ด้วย Confidence-Weighted
Voting สำหรับ Korean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463040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657600" cy="54864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517904"/>
            <a:ext cx="640080" cy="2048256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011680"/>
            <a:ext cx="566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arabun"/>
              </a:rPr>
              <a:t>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155448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A8F"/>
                </a:solidFill>
                <a:latin typeface="Sarabun"/>
              </a:rPr>
              <a:t>ขยายภาษาใหม่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212848"/>
            <a:ext cx="28803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  <a:latin typeface="Sarabun"/>
              </a:rPr>
              <a:t>Arabic (AESDD)
German (Emodb)
French (ADAS)
Hindi (IEMOCAP)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40480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840480"/>
            <a:ext cx="36576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895344"/>
            <a:ext cx="640080" cy="2048256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389120"/>
            <a:ext cx="566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arabun"/>
              </a:rP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319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Sarabun"/>
              </a:rPr>
              <a:t>Fine-tune
Wav2Vec2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590288"/>
            <a:ext cx="28803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  <a:latin typeface="Sarabun"/>
              </a:rPr>
              <a:t>Fine-tune XLS-R 53
บน Emotion Dataset
ช่วย Low-Resource Lang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59" y="3840480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59" y="3840480"/>
            <a:ext cx="3657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59" y="3895344"/>
            <a:ext cx="640080" cy="2048256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79" y="4389120"/>
            <a:ext cx="566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arabun"/>
              </a:rPr>
              <a:t>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59" y="39319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Sarabun"/>
              </a:rPr>
              <a:t>Real-time
Streaming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59" y="4590288"/>
            <a:ext cx="28803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  <a:latin typeface="Sarabun"/>
              </a:rPr>
              <a:t>Sliding Window 2s
Step 0.5s
Call Center / Live App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840480"/>
            <a:ext cx="3657600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840480"/>
            <a:ext cx="3657600" cy="5486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3895344"/>
            <a:ext cx="640080" cy="2048256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4389120"/>
            <a:ext cx="5669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arabun"/>
              </a:rPr>
              <a:t>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39319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213E"/>
                </a:solidFill>
                <a:latin typeface="Sarabun"/>
              </a:rPr>
              <a:t>Mobile
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4590288"/>
            <a:ext cx="28803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F0FE"/>
                </a:solidFill>
                <a:latin typeface="Sarabun"/>
              </a:rPr>
              <a:t>Knowledge Distillation
Quantization INT8
Mobile App / Edge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360152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03601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230368"/>
            <a:ext cx="103601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Sarabun"/>
              </a:rPr>
              <a:t>ขอบคุณครับ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5A623"/>
                </a:solidFill>
                <a:latin typeface="Sarabun"/>
              </a:rP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337560"/>
            <a:ext cx="5788152" cy="3657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F0FE"/>
                </a:solidFill>
                <a:latin typeface="Sarabun"/>
              </a:rPr>
              <a:t>🎤  Live Demo  —  python web_demo.py  (Gradio port 7860)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5A5A6"/>
                </a:solidFill>
                <a:latin typeface="Sarabun"/>
              </a:rPr>
              <a:t>GitHub: github.com/SaintPalus/Project-Sent-For-JP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17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Sarabun"/>
              </a:rPr>
              <a:t>รหัสนักศึกษา 66070131  |  ภาคการศึกษา 2/2567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